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12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8016" cy="17373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D3EE"/>
                </a:solidFill>
                <a:latin typeface="Calibri"/>
              </a:rPr>
              <a:t>STELLANTIS TECH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Cloud-Based Vehicle Health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7D2E0"/>
                </a:solidFill>
                <a:latin typeface="Calibri"/>
              </a:rPr>
              <a:t>Predictive, explainable vehicle health — before something breaks.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72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7D2E0"/>
                </a:solidFill>
                <a:latin typeface="Calibri"/>
              </a:rPr>
              <a:t>Team STACK · Full-stack build: Next.js · FastAPI · SQLite · Groq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Cars fail reactively, not predictively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22D3EE"/>
                </a:solidFill>
              </a:rPr>
              <a:t>›  </a:t>
            </a:r>
            <a:r>
              <a:rPr sz="1800" b="1">
                <a:solidFill>
                  <a:srgbClr val="FFFFFF"/>
                </a:solidFill>
                <a:latin typeface="Calibri"/>
              </a:rPr>
              <a:t>Connected vehicles stream constant ECU/telemetry data — but nobody turns it into a straight answer.</a:t>
            </a:r>
            <a:r>
              <a:rPr sz="1700" b="0">
                <a:solidFill>
                  <a:srgbClr val="C7D2E0"/>
                </a:solidFill>
                <a:latin typeface="Calibri"/>
              </a:rPr>
              <a:t>  battery, motor, cybersecurity, mechanical signals all exist; none are synthesized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22D3EE"/>
                </a:solidFill>
              </a:rPr>
              <a:t>›  </a:t>
            </a:r>
            <a:r>
              <a:rPr sz="1800" b="1">
                <a:solidFill>
                  <a:srgbClr val="FFFFFF"/>
                </a:solidFill>
                <a:latin typeface="Calibri"/>
              </a:rPr>
              <a:t>Owners only find out something is wrong when a warning light comes on.</a:t>
            </a:r>
            <a:r>
              <a:rPr sz="1700" b="0">
                <a:solidFill>
                  <a:srgbClr val="C7D2E0"/>
                </a:solidFill>
                <a:latin typeface="Calibri"/>
              </a:rPr>
              <a:t>  no simple "is my car healthy right now" view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22D3EE"/>
                </a:solidFill>
              </a:rPr>
              <a:t>›  </a:t>
            </a:r>
            <a:r>
              <a:rPr sz="1800" b="1">
                <a:solidFill>
                  <a:srgbClr val="FFFFFF"/>
                </a:solidFill>
                <a:latin typeface="Calibri"/>
              </a:rPr>
              <a:t>Fleet managers can't schedule maintenance proactively.</a:t>
            </a:r>
            <a:r>
              <a:rPr sz="1700" b="0">
                <a:solidFill>
                  <a:srgbClr val="C7D2E0"/>
                </a:solidFill>
                <a:latin typeface="Calibri"/>
              </a:rPr>
              <a:t>  no cross-vehicle visibility into what's degrading before it causes downtime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22D3EE"/>
                </a:solidFill>
              </a:rPr>
              <a:t>›  </a:t>
            </a:r>
            <a:r>
              <a:rPr sz="1800" b="1">
                <a:solidFill>
                  <a:srgbClr val="FFFFFF"/>
                </a:solidFill>
                <a:latin typeface="Calibri"/>
              </a:rPr>
              <a:t>Dealers &amp; OEM service centers see the car only after it has already failed.</a:t>
            </a:r>
            <a:r>
              <a:rPr sz="1700" b="0">
                <a:solidFill>
                  <a:srgbClr val="C7D2E0"/>
                </a:solidFill>
                <a:latin typeface="Calibri"/>
              </a:rPr>
              <a:t>  zero early-warning triage data before the vehicle arrives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22D3EE"/>
                </a:solidFill>
              </a:rPr>
              <a:t>›  </a:t>
            </a:r>
            <a:r>
              <a:rPr sz="1800" b="1">
                <a:solidFill>
                  <a:srgbClr val="C7D2E0"/>
                </a:solidFill>
                <a:latin typeface="Calibri"/>
              </a:rPr>
              <a:t>Net effect: unplanned breakdowns cost more than scheduled service and quietly erode brand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8C"/>
                </a:solidFill>
                <a:latin typeface="Calibri"/>
              </a:rPr>
              <a:t>Stellantis Hackathon · Cloud Vehicle Health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USERS &amp; 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Who this is for — and why Stellantis builds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29000" cy="246888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600" b="1">
                <a:solidFill>
                  <a:srgbClr val="22D3EE"/>
                </a:solidFill>
              </a:rPr>
              <a:t>Vehicle Owners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7D2E0"/>
                </a:solidFill>
              </a:rPr>
              <a:t>A health / battery / security snapshot instead of a single warning light — plain-language answers, not raw sensor codes.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29000" cy="246888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600" b="1">
                <a:solidFill>
                  <a:srgbClr val="22D3EE"/>
                </a:solidFill>
              </a:rPr>
              <a:t>Fleet Managers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7D2E0"/>
                </a:solidFill>
              </a:rPr>
              <a:t>A cross-vehicle view to schedule maintenance ahead of downtime instead of reacting to breakdowns one at a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429000" cy="246888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600" b="1">
                <a:solidFill>
                  <a:srgbClr val="22D3EE"/>
                </a:solidFill>
              </a:rPr>
              <a:t>Stellantis Service Centers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C7D2E0"/>
                </a:solidFill>
              </a:rPr>
              <a:t>Early-warning triage data before the car even arrives at the shop.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7D2E0"/>
                </a:solidFill>
                <a:latin typeface="Calibri"/>
              </a:rPr>
              <a:t>Why Stellantis specifically: this is a direct SDV monetization path — telemetry-as-a-service, predictive-maintenance subscriptions, and cybersecurity assurance (UNECE R155-relevant) are areas OEMs are already investing in. This build is a believable MVP slice of that roadmap, not just a demo toy.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8C"/>
                </a:solidFill>
                <a:latin typeface="Calibri"/>
              </a:rPr>
              <a:t>Stellantis Hackathon · Cloud Vehicle Health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One dashboard: score it, predict it, explain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800" b="1">
                <a:solidFill>
                  <a:srgbClr val="22D3EE"/>
                </a:solidFill>
              </a:rPr>
              <a:t>Deterministic Health Scoring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7D2E0"/>
                </a:solidFill>
              </a:rPr>
              <a:t>Battery / Cybersecurity / Overall Vehicle Health — pure math, auditable, no black 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800" b="1">
                <a:solidFill>
                  <a:srgbClr val="22D3EE"/>
                </a:solidFill>
              </a:rPr>
              <a:t>Predictive Maintenance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7D2E0"/>
                </a:solidFill>
              </a:rPr>
              <a:t>Trend-based rule engine flags degradation before failure, with a days-to-service estimate.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800" b="1">
                <a:solidFill>
                  <a:srgbClr val="22D3EE"/>
                </a:solidFill>
              </a:rPr>
              <a:t>AI Explanation &amp; Chat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7D2E0"/>
                </a:solidFill>
              </a:rPr>
              <a:t>An LLM (Groq) turns computed scores + raw telemetry into plain-language reasoning and answers freeform questions — it never invents the numbers.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800" b="1">
                <a:solidFill>
                  <a:srgbClr val="22D3EE"/>
                </a:solidFill>
              </a:rPr>
              <a:t>Fleet + Per-Vehicle Views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7D2E0"/>
                </a:solidFill>
              </a:rPr>
              <a:t>From a fleet-wide overview down to one vehicle's live telemetry, alerts, and maintenance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8C"/>
                </a:solidFill>
                <a:latin typeface="Calibri"/>
              </a:rPr>
              <a:t>Stellantis Hackathon · Cloud Vehicle Health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Deterministic scoring first, AI explains second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172C52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Simulated ECU / Vehicle</a:t>
            </a:r>
          </a:p>
          <a:p>
            <a:pPr algn="ctr">
              <a:spcBef>
                <a:spcPts val="300"/>
              </a:spcBef>
            </a:pPr>
            <a:r>
              <a:rPr sz="1100">
                <a:solidFill>
                  <a:srgbClr val="C7D2E0"/>
                </a:solidFill>
              </a:rPr>
              <a:t>mock telemetry generator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172C52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SQLite Database</a:t>
            </a:r>
          </a:p>
          <a:p>
            <a:pPr algn="ctr">
              <a:spcBef>
                <a:spcPts val="300"/>
              </a:spcBef>
            </a:pPr>
            <a:r>
              <a:rPr sz="1100">
                <a:solidFill>
                  <a:srgbClr val="C7D2E0"/>
                </a:solidFill>
              </a:rPr>
              <a:t>vehicles · telemetry · scores ·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651760" cy="822960"/>
          </a:xfrm>
          <a:prstGeom prst="roundRect">
            <a:avLst>
              <a:gd name="adj" fmla="val 12000"/>
            </a:avLst>
          </a:prstGeom>
          <a:solidFill>
            <a:srgbClr val="172C52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FastAPI Backend</a:t>
            </a:r>
          </a:p>
          <a:p>
            <a:pPr algn="ctr">
              <a:spcBef>
                <a:spcPts val="300"/>
              </a:spcBef>
            </a:pPr>
            <a:r>
              <a:rPr sz="1100">
                <a:solidFill>
                  <a:srgbClr val="C7D2E0"/>
                </a:solidFill>
              </a:rPr>
              <a:t>REST API +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737360"/>
            <a:ext cx="2331720" cy="822960"/>
          </a:xfrm>
          <a:prstGeom prst="roundRect">
            <a:avLst>
              <a:gd name="adj" fmla="val 12000"/>
            </a:avLst>
          </a:prstGeom>
          <a:solidFill>
            <a:srgbClr val="172C52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Next.js Dashboard</a:t>
            </a:r>
          </a:p>
          <a:p>
            <a:pPr algn="ctr">
              <a:spcBef>
                <a:spcPts val="300"/>
              </a:spcBef>
            </a:pPr>
            <a:r>
              <a:rPr sz="1100">
                <a:solidFill>
                  <a:srgbClr val="C7D2E0"/>
                </a:solidFill>
              </a:rPr>
              <a:t>React + Tailwind + Recharts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3017520"/>
            <a:ext cx="2743200" cy="822960"/>
          </a:xfrm>
          <a:prstGeom prst="roundRect">
            <a:avLst>
              <a:gd name="adj" fmla="val 12000"/>
            </a:avLst>
          </a:prstGeom>
          <a:solidFill>
            <a:srgbClr val="172C52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Scoring Engine</a:t>
            </a:r>
          </a:p>
          <a:p>
            <a:pPr algn="ctr">
              <a:spcBef>
                <a:spcPts val="300"/>
              </a:spcBef>
            </a:pPr>
            <a:r>
              <a:rPr sz="1100">
                <a:solidFill>
                  <a:srgbClr val="C7D2E0"/>
                </a:solidFill>
              </a:rPr>
              <a:t>deterministic math — no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017520"/>
            <a:ext cx="2743200" cy="822960"/>
          </a:xfrm>
          <a:prstGeom prst="roundRect">
            <a:avLst>
              <a:gd name="adj" fmla="val 12000"/>
            </a:avLst>
          </a:prstGeom>
          <a:solidFill>
            <a:srgbClr val="172C52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Predictive Rule Engine</a:t>
            </a:r>
          </a:p>
          <a:p>
            <a:pPr algn="ctr">
              <a:spcBef>
                <a:spcPts val="300"/>
              </a:spcBef>
            </a:pPr>
            <a:r>
              <a:rPr sz="1100">
                <a:solidFill>
                  <a:srgbClr val="C7D2E0"/>
                </a:solidFill>
              </a:rPr>
              <a:t>slope-of-degradation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297680"/>
            <a:ext cx="3291840" cy="822960"/>
          </a:xfrm>
          <a:prstGeom prst="roundRect">
            <a:avLst>
              <a:gd name="adj" fmla="val 12000"/>
            </a:avLst>
          </a:prstGeom>
          <a:solidFill>
            <a:srgbClr val="172C52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500">
                <a:solidFill>
                  <a:srgbClr val="FFFFFF"/>
                </a:solidFill>
              </a:rPr>
              <a:t>Groq LLM (explanation + chat)</a:t>
            </a:r>
          </a:p>
          <a:p>
            <a:pPr algn="ctr">
              <a:spcBef>
                <a:spcPts val="300"/>
              </a:spcBef>
            </a:pPr>
            <a:r>
              <a:rPr sz="1100">
                <a:solidFill>
                  <a:srgbClr val="C7D2E0"/>
                </a:solidFill>
              </a:rPr>
              <a:t>receives scores + telemetry, never computes them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2148840"/>
            <a:ext cx="320040" cy="0"/>
          </a:xfrm>
          <a:prstGeom prst="line">
            <a:avLst/>
          </a:prstGeom>
          <a:ln w="2540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97880" y="2148840"/>
            <a:ext cx="320040" cy="0"/>
          </a:xfrm>
          <a:prstGeom prst="line">
            <a:avLst/>
          </a:prstGeom>
          <a:ln w="2540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69680" y="2148840"/>
            <a:ext cx="320040" cy="0"/>
          </a:xfrm>
          <a:prstGeom prst="line">
            <a:avLst/>
          </a:prstGeom>
          <a:ln w="2540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309360" y="2560320"/>
            <a:ext cx="1234440" cy="548640"/>
          </a:xfrm>
          <a:prstGeom prst="line">
            <a:avLst/>
          </a:prstGeom>
          <a:ln w="2540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2560320"/>
            <a:ext cx="1600200" cy="548640"/>
          </a:xfrm>
          <a:prstGeom prst="line">
            <a:avLst/>
          </a:prstGeom>
          <a:ln w="2540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23760" y="3840480"/>
            <a:ext cx="731519" cy="548640"/>
          </a:xfrm>
          <a:prstGeom prst="line">
            <a:avLst/>
          </a:prstGeom>
          <a:ln w="2540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229600" y="3840480"/>
            <a:ext cx="914400" cy="548640"/>
          </a:xfrm>
          <a:prstGeom prst="line">
            <a:avLst/>
          </a:prstGeom>
          <a:ln w="25400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7D2E0"/>
                </a:solidFill>
                <a:latin typeface="Calibri"/>
              </a:rPr>
              <a:t>Key decision: scoring is 100% deterministic — judges weight scoring correctness heavily, so it must be auditable, not an LLM guess. It also makes the demo resilient: if the Groq API hiccups, the dashboard and scores still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8C"/>
                </a:solidFill>
                <a:latin typeface="Calibri"/>
              </a:rPr>
              <a:t>Stellantis Hackathon · Cloud Vehicle Health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8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it's actually built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60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621792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22D3EE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22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22D3EE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22A4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172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C7D2E0"/>
                          </a:solidFill>
                        </a:rPr>
                        <a:t>Next.js (App Router) · React · Tailwind CSS · Recharts · lucide-react · axios</a:t>
                      </a:r>
                    </a:p>
                  </a:txBody>
                  <a:tcPr>
                    <a:solidFill>
                      <a:srgbClr val="172C5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172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C7D2E0"/>
                          </a:solidFill>
                        </a:rPr>
                        <a:t>FastAPI (Python) · SQLAlchemy · Pydantic · JWT auth</a:t>
                      </a:r>
                    </a:p>
                  </a:txBody>
                  <a:tcPr>
                    <a:solidFill>
                      <a:srgbClr val="172C5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172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C7D2E0"/>
                          </a:solidFill>
                        </a:rPr>
                        <a:t>SQLite — single file, zero infra, no separate DB service to run</a:t>
                      </a:r>
                    </a:p>
                  </a:txBody>
                  <a:tcPr>
                    <a:solidFill>
                      <a:srgbClr val="172C5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AI Layer</a:t>
                      </a:r>
                    </a:p>
                  </a:txBody>
                  <a:tcPr>
                    <a:solidFill>
                      <a:srgbClr val="172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C7D2E0"/>
                          </a:solidFill>
                        </a:rPr>
                        <a:t>Groq LLM API — explanation + chat only, imported as a library by the backend</a:t>
                      </a:r>
                    </a:p>
                  </a:txBody>
                  <a:tcPr>
                    <a:solidFill>
                      <a:srgbClr val="172C5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Scoring &amp; Rules</a:t>
                      </a:r>
                    </a:p>
                  </a:txBody>
                  <a:tcPr>
                    <a:solidFill>
                      <a:srgbClr val="172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C7D2E0"/>
                          </a:solidFill>
                        </a:rPr>
                        <a:t>Pure Python, config-driven weights/thresholds — tunable without touching logic</a:t>
                      </a:r>
                    </a:p>
                  </a:txBody>
                  <a:tcPr>
                    <a:solidFill>
                      <a:srgbClr val="172C5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Infra</a:t>
                      </a:r>
                    </a:p>
                  </a:txBody>
                  <a:tcPr>
                    <a:solidFill>
                      <a:srgbClr val="172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C7D2E0"/>
                          </a:solidFill>
                        </a:rPr>
                        <a:t>Docker Compose (backend + frontend); Vercel / Render for deployment</a:t>
                      </a:r>
                    </a:p>
                  </a:txBody>
                  <a:tcPr>
                    <a:solidFill>
                      <a:srgbClr val="172C5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8C"/>
                </a:solidFill>
                <a:latin typeface="Calibri"/>
              </a:rPr>
              <a:t>Stellantis Hackathon · Cloud Vehicle Health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Six tables cover the whole vehicle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600" b="1">
                <a:solidFill>
                  <a:srgbClr val="22D3EE"/>
                </a:solidFill>
              </a:rPr>
              <a:t>vehicles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7D2E0"/>
                </a:solidFill>
              </a:rPr>
              <a:t>One row per vehicle — model, year, firmware version, mileage.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600" b="1">
                <a:solidFill>
                  <a:srgbClr val="22D3EE"/>
                </a:solidFill>
              </a:rPr>
              <a:t>telemetry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7D2E0"/>
                </a:solidFill>
              </a:rPr>
              <a:t>Time-series ECU reads: battery, temps, CAN bus errors, GPS, fault codes.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600" b="1">
                <a:solidFill>
                  <a:srgbClr val="22D3EE"/>
                </a:solidFill>
              </a:rPr>
              <a:t>health_scores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7D2E0"/>
                </a:solidFill>
              </a:rPr>
              <a:t>Computed snapshot per reading: vehicle / battery / cybersecurity scores.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6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600" b="1">
                <a:solidFill>
                  <a:srgbClr val="22D3EE"/>
                </a:solidFill>
              </a:rPr>
              <a:t>alerts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7D2E0"/>
                </a:solidFill>
              </a:rPr>
              <a:t>Rule-triggered warnings with severity + predicted days-to-service.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33756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600" b="1">
                <a:solidFill>
                  <a:srgbClr val="22D3EE"/>
                </a:solidFill>
              </a:rPr>
              <a:t>maintenance_logs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7D2E0"/>
                </a:solidFill>
              </a:rPr>
              <a:t>Recommendations — rule-engine or Groq-sourced, with urgency.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33756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600" b="1">
                <a:solidFill>
                  <a:srgbClr val="22D3EE"/>
                </a:solidFill>
              </a:rPr>
              <a:t>users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C7D2E0"/>
                </a:solidFill>
              </a:rPr>
              <a:t>Demo auth — owner / fleet-manager / admin roles, JWT-protected.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8C"/>
                </a:solidFill>
                <a:latin typeface="Calibri"/>
              </a:rPr>
              <a:t>Stellantis Hackathon · Cloud Vehicle Health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8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DETERMINISTIC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core differentiator — auditable math, not an LLM guess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 b="1">
                <a:solidFill>
                  <a:srgbClr val="22D3EE"/>
                </a:solidFill>
              </a:rPr>
              <a:t>›  </a:t>
            </a:r>
            <a:r>
              <a:rPr sz="1600" b="1">
                <a:solidFill>
                  <a:srgbClr val="FFFFFF"/>
                </a:solidFill>
                <a:latin typeface="Calibri"/>
              </a:rPr>
              <a:t>Battery Health Score</a:t>
            </a:r>
            <a:r>
              <a:rPr sz="1500" b="0">
                <a:solidFill>
                  <a:srgbClr val="C7D2E0"/>
                </a:solidFill>
                <a:latin typeface="Calibri"/>
              </a:rPr>
              <a:t>  charge % (20%) + voltage deviation (25%) + battery temp (25%) + charge cycles (15%) + mileage/age (15%)</a:t>
            </a:r>
          </a:p>
          <a:p>
            <a:pPr>
              <a:spcAft>
                <a:spcPts val="1800"/>
              </a:spcAft>
            </a:pPr>
            <a:r>
              <a:rPr sz="1600" b="1">
                <a:solidFill>
                  <a:srgbClr val="22D3EE"/>
                </a:solidFill>
              </a:rPr>
              <a:t>›  </a:t>
            </a:r>
            <a:r>
              <a:rPr sz="1600" b="1">
                <a:solidFill>
                  <a:srgbClr val="FFFFFF"/>
                </a:solidFill>
                <a:latin typeface="Calibri"/>
              </a:rPr>
              <a:t>Cybersecurity Score</a:t>
            </a:r>
            <a:r>
              <a:rPr sz="1500" b="0">
                <a:solidFill>
                  <a:srgbClr val="C7D2E0"/>
                </a:solidFill>
                <a:latin typeface="Calibri"/>
              </a:rPr>
              <a:t>  firmware currency (25%) + encryption status (30%) + CAN bus errors (25%) + unauthorized access attempts (20%)</a:t>
            </a:r>
          </a:p>
          <a:p>
            <a:pPr>
              <a:spcAft>
                <a:spcPts val="1800"/>
              </a:spcAft>
            </a:pPr>
            <a:r>
              <a:rPr sz="1600" b="1">
                <a:solidFill>
                  <a:srgbClr val="22D3EE"/>
                </a:solidFill>
              </a:rPr>
              <a:t>›  </a:t>
            </a:r>
            <a:r>
              <a:rPr sz="1600" b="1">
                <a:solidFill>
                  <a:srgbClr val="FFFFFF"/>
                </a:solidFill>
                <a:latin typeface="Calibri"/>
              </a:rPr>
              <a:t>Overall Vehicle Health Score</a:t>
            </a:r>
            <a:r>
              <a:rPr sz="1500" b="0">
                <a:solidFill>
                  <a:srgbClr val="C7D2E0"/>
                </a:solidFill>
                <a:latin typeface="Calibri"/>
              </a:rPr>
              <a:t>  battery (30%) + ECU perf. (25%) + mechanical (25%) + cybersecurity (10%) + fault-code penalty (10%)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91640"/>
            <a:ext cx="5394960" cy="411480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700" b="1">
                <a:solidFill>
                  <a:srgbClr val="22D3EE"/>
                </a:solidFill>
              </a:rPr>
              <a:t>Shared normalizer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7D2E0"/>
                </a:solidFill>
              </a:rPr>
              <a:t>normalize(value, good, bad) = clamp((bad - value) / (bad - good) * 100, 0, 100)</a:t>
            </a:r>
            <a:br/>
            <a:br/>
            <a:r>
              <a:t>Every sub-score reduces to this one clamped linear formula — direction flips automatically for metrics where higher is better (e.g. battery %) vs. worse (e.g. temperature).</a:t>
            </a:r>
            <a:br/>
            <a:br/>
            <a:r>
              <a:t>All weights and thresholds live in one config file, so they're tunable live during the demo without touching the scoring logic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8C"/>
                </a:solidFill>
                <a:latin typeface="Calibri"/>
              </a:rPr>
              <a:t>Stellantis Hackathon · Cloud Vehicle Health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8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PREDICTIVE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Slope-of-degradation, not a single bad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72C52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500">
                <a:solidFill>
                  <a:srgbClr val="F59E0B"/>
                </a:solidFill>
              </a:rPr>
              <a:t>BATTERY  ·  HIGH   </a:t>
            </a:r>
            <a:r>
              <a:rPr sz="1350">
                <a:solidFill>
                  <a:srgbClr val="C7D2E0"/>
                </a:solidFill>
              </a:rPr>
              <a:t>Battery temp trending up &gt;0.5°C/reading over 5 readings AND battery health score &lt; 60</a:t>
            </a:r>
          </a:p>
          <a:p>
            <a:r>
              <a:rPr sz="1200" i="1">
                <a:solidFill>
                  <a:srgbClr val="FFFFFF"/>
                </a:solidFill>
              </a:rPr>
              <a:t>Predicted days to service: 10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72C5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500">
                <a:solidFill>
                  <a:srgbClr val="22D3EE"/>
                </a:solidFill>
              </a:rPr>
              <a:t>CYBERSECURITY  ·  MEDIUM   </a:t>
            </a:r>
            <a:r>
              <a:rPr sz="1350">
                <a:solidFill>
                  <a:srgbClr val="C7D2E0"/>
                </a:solidFill>
              </a:rPr>
              <a:t>CAN bus error count increased for 3 consecutive readings</a:t>
            </a:r>
          </a:p>
          <a:p>
            <a:r>
              <a:rPr sz="1200" i="1">
                <a:solidFill>
                  <a:srgbClr val="FFFFFF"/>
                </a:solidFill>
              </a:rPr>
              <a:t>Predicted days to service: 5 days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72C52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500">
                <a:solidFill>
                  <a:srgbClr val="EF4444"/>
                </a:solidFill>
              </a:rPr>
              <a:t>MECHANICAL  ·  CRITICAL   </a:t>
            </a:r>
            <a:r>
              <a:rPr sz="1350">
                <a:solidFill>
                  <a:srgbClr val="C7D2E0"/>
                </a:solidFill>
              </a:rPr>
              <a:t>Coolant temp &gt; 105°C OR oil pressure below safe threshold</a:t>
            </a:r>
          </a:p>
          <a:p>
            <a:r>
              <a:rPr sz="1200" i="1">
                <a:solidFill>
                  <a:srgbClr val="FFFFFF"/>
                </a:solidFill>
              </a:rPr>
              <a:t>Predicted days to service: 1 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72C5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500">
                <a:solidFill>
                  <a:srgbClr val="22D3EE"/>
                </a:solidFill>
              </a:rPr>
              <a:t>ECU  ·  MEDIUM   </a:t>
            </a:r>
            <a:r>
              <a:rPr sz="1350">
                <a:solidFill>
                  <a:srgbClr val="C7D2E0"/>
                </a:solidFill>
              </a:rPr>
              <a:t>Overall vehicle health score dropped &gt;15 points over the last 5 readings</a:t>
            </a:r>
          </a:p>
          <a:p>
            <a:r>
              <a:rPr sz="1200" i="1">
                <a:solidFill>
                  <a:srgbClr val="FFFFFF"/>
                </a:solidFill>
              </a:rPr>
              <a:t>Predicted days to service: 14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8C"/>
                </a:solidFill>
                <a:latin typeface="Calibri"/>
              </a:rPr>
              <a:t>Stellantis Hackathon · Cloud Vehicle Health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8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AI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Groq LLM — explains and answers, never scores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22D3EE"/>
                </a:solidFill>
              </a:rPr>
              <a:t>›  </a:t>
            </a:r>
            <a:r>
              <a:rPr sz="1700" b="1">
                <a:solidFill>
                  <a:srgbClr val="FFFFFF"/>
                </a:solidFill>
                <a:latin typeface="Calibri"/>
              </a:rPr>
              <a:t>Explanation, not computation</a:t>
            </a:r>
            <a:r>
              <a:rPr sz="1600" b="0">
                <a:solidFill>
                  <a:srgbClr val="C7D2E0"/>
                </a:solidFill>
                <a:latin typeface="Calibri"/>
              </a:rPr>
              <a:t>  The backend's deterministic engine computes every score first; Groq only receives already-computed scores + raw telemetry and turns them into natural-language reasoning.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2D3EE"/>
                </a:solidFill>
              </a:rPr>
              <a:t>›  </a:t>
            </a:r>
            <a:r>
              <a:rPr sz="1700" b="1">
                <a:solidFill>
                  <a:srgbClr val="FFFFFF"/>
                </a:solidFill>
                <a:latin typeface="Calibri"/>
              </a:rPr>
              <a:t>Freeform chat</a:t>
            </a:r>
            <a:r>
              <a:rPr sz="1600" b="0">
                <a:solidFill>
                  <a:srgbClr val="C7D2E0"/>
                </a:solidFill>
                <a:latin typeface="Calibri"/>
              </a:rPr>
              <a:t>  Answers questions about a specific vehicle using its data passed directly as context — no vector search needed, since the data is structured, not a document corpus.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2D3EE"/>
                </a:solidFill>
              </a:rPr>
              <a:t>›  </a:t>
            </a:r>
            <a:r>
              <a:rPr sz="1700" b="1">
                <a:solidFill>
                  <a:srgbClr val="FFFFFF"/>
                </a:solidFill>
                <a:latin typeface="Calibri"/>
              </a:rPr>
              <a:t>Resilience by design</a:t>
            </a:r>
            <a:r>
              <a:rPr sz="1600" b="0">
                <a:solidFill>
                  <a:srgbClr val="C7D2E0"/>
                </a:solidFill>
                <a:latin typeface="Calibri"/>
              </a:rPr>
              <a:t>  If the Groq API is slow or down, the dashboard, scores, and alerts keep working — AI is additive, not load-bearing.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2D3EE"/>
                </a:solidFill>
              </a:rPr>
              <a:t>›  </a:t>
            </a:r>
            <a:r>
              <a:rPr sz="1700" b="1">
                <a:solidFill>
                  <a:srgbClr val="FFFFFF"/>
                </a:solidFill>
                <a:latin typeface="Calibri"/>
              </a:rPr>
              <a:t>Reliability</a:t>
            </a:r>
            <a:r>
              <a:rPr sz="1600" b="0">
                <a:solidFill>
                  <a:srgbClr val="C7D2E0"/>
                </a:solidFill>
                <a:latin typeface="Calibri"/>
              </a:rPr>
              <a:t>  Grounded strictly in computed scores + telemetry via a constrained system prompt — it can't invent numbers it wasn't given.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8C"/>
                </a:solidFill>
                <a:latin typeface="Calibri"/>
              </a:rPr>
              <a:t>Stellantis Hackathon · Cloud Vehicle Health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One app, every view a stakeholder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400" b="1">
                <a:solidFill>
                  <a:srgbClr val="22D3EE"/>
                </a:solidFill>
              </a:rPr>
              <a:t>Fleet Dashboard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7D2E0"/>
                </a:solidFill>
              </a:rPr>
              <a:t>Fleet-wide score cards, vehicle list, alert badges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7373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400" b="1">
                <a:solidFill>
                  <a:srgbClr val="22D3EE"/>
                </a:solidFill>
              </a:rPr>
              <a:t>Vehicle Detail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7D2E0"/>
                </a:solidFill>
              </a:rPr>
              <a:t>Health / battery / cyber gauges, live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400" b="1">
                <a:solidFill>
                  <a:srgbClr val="22D3EE"/>
                </a:solidFill>
              </a:rPr>
              <a:t>Telemetry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7D2E0"/>
                </a:solidFill>
              </a:rPr>
              <a:t>Recharts time-series per metric, time range picker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7373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400" b="1">
                <a:solidFill>
                  <a:srgbClr val="22D3EE"/>
                </a:solidFill>
              </a:rPr>
              <a:t>Alerts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7D2E0"/>
                </a:solidFill>
              </a:rPr>
              <a:t>Severity-coded table, days-to-service countdown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400" b="1">
                <a:solidFill>
                  <a:srgbClr val="22D3EE"/>
                </a:solidFill>
              </a:rPr>
              <a:t>Maintenance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7D2E0"/>
                </a:solidFill>
              </a:rPr>
              <a:t>Recommendation cards, urgency + AI explanation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32918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400" b="1">
                <a:solidFill>
                  <a:srgbClr val="22D3EE"/>
                </a:solidFill>
              </a:rPr>
              <a:t>AI Assistant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7D2E0"/>
                </a:solidFill>
              </a:rPr>
              <a:t>Chat with the Groq-backed assistant about a vehicle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2918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400" b="1">
                <a:solidFill>
                  <a:srgbClr val="22D3EE"/>
                </a:solidFill>
              </a:rPr>
              <a:t>Simulator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7D2E0"/>
                </a:solidFill>
              </a:rPr>
              <a:t>Drive mock telemetry to demo scoring/alerts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2918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72C52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/>
            <a:r>
              <a:rPr sz="1400" b="1">
                <a:solidFill>
                  <a:srgbClr val="22D3EE"/>
                </a:solidFill>
              </a:rPr>
              <a:t>Auth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C7D2E0"/>
                </a:solidFill>
              </a:rPr>
              <a:t>JWT-protected login, role-based demo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8C"/>
                </a:solidFill>
                <a:latin typeface="Calibri"/>
              </a:rPr>
              <a:t>Stellantis Hackathon · Cloud Vehicle Health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TEAM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5 developers, 5 branches, one integration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Calibri"/>
              </a:rPr>
              <a:t>main  ◄── integration ◄── frontend / backend / ai ◄── feature branches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22D3EE"/>
                </a:solidFill>
              </a:rPr>
              <a:t>›  </a:t>
            </a:r>
            <a:r>
              <a:rPr sz="1600" b="1">
                <a:solidFill>
                  <a:srgbClr val="FFFFFF"/>
                </a:solidFill>
                <a:latin typeface="Calibri"/>
              </a:rPr>
              <a:t>Frontend team</a:t>
            </a:r>
            <a:r>
              <a:rPr sz="1500" b="0">
                <a:solidFill>
                  <a:srgbClr val="C7D2E0"/>
                </a:solidFill>
                <a:latin typeface="Calibri"/>
              </a:rPr>
              <a:t>  Next.js/React/Tailwind — UI, pages, state, API integration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2D3EE"/>
                </a:solidFill>
              </a:rPr>
              <a:t>›  </a:t>
            </a:r>
            <a:r>
              <a:rPr sz="1600" b="1">
                <a:solidFill>
                  <a:srgbClr val="FFFFFF"/>
                </a:solidFill>
                <a:latin typeface="Calibri"/>
              </a:rPr>
              <a:t>Backend dev</a:t>
            </a:r>
            <a:r>
              <a:rPr sz="1500" b="0">
                <a:solidFill>
                  <a:srgbClr val="C7D2E0"/>
                </a:solidFill>
                <a:latin typeface="Calibri"/>
              </a:rPr>
              <a:t>  FastAPI service — REST API, DB models, scoring wiring, auth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2D3EE"/>
                </a:solidFill>
              </a:rPr>
              <a:t>›  </a:t>
            </a:r>
            <a:r>
              <a:rPr sz="1600" b="1">
                <a:solidFill>
                  <a:srgbClr val="FFFFFF"/>
                </a:solidFill>
                <a:latin typeface="Calibri"/>
              </a:rPr>
              <a:t>AI dev</a:t>
            </a:r>
            <a:r>
              <a:rPr sz="1500" b="0">
                <a:solidFill>
                  <a:srgbClr val="C7D2E0"/>
                </a:solidFill>
                <a:latin typeface="Calibri"/>
              </a:rPr>
              <a:t>  Groq client, prompt design, explanation + chat endpoints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2D3EE"/>
                </a:solidFill>
              </a:rPr>
              <a:t>›  </a:t>
            </a:r>
            <a:r>
              <a:rPr sz="1600" b="1">
                <a:solidFill>
                  <a:srgbClr val="FFFFFF"/>
                </a:solidFill>
                <a:latin typeface="Calibri"/>
              </a:rPr>
              <a:t>Integration owner</a:t>
            </a:r>
            <a:r>
              <a:rPr sz="1500" b="0">
                <a:solidFill>
                  <a:srgbClr val="C7D2E0"/>
                </a:solidFill>
                <a:latin typeface="Calibri"/>
              </a:rPr>
              <a:t>  Wires services together, deployment, docs, demo prep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2D3EE"/>
                </a:solidFill>
              </a:rPr>
              <a:t>›  </a:t>
            </a:r>
            <a:r>
              <a:rPr sz="1600" b="1">
                <a:solidFill>
                  <a:srgbClr val="FFFFFF"/>
                </a:solidFill>
                <a:latin typeface="Calibri"/>
              </a:rPr>
              <a:t>Process</a:t>
            </a:r>
            <a:r>
              <a:rPr sz="1500" b="0">
                <a:solidFill>
                  <a:srgbClr val="C7D2E0"/>
                </a:solidFill>
                <a:latin typeface="Calibri"/>
              </a:rPr>
              <a:t>  Conventional commits, PR review before merge, main branch protected — PR + 1 approval + no force-push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8C"/>
                </a:solidFill>
                <a:latin typeface="Calibri"/>
              </a:rPr>
              <a:t>Stellantis Hackathon · Cloud Vehicle Health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Calibri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we'd build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22D3EE"/>
                </a:solidFill>
              </a:rPr>
              <a:t>›  </a:t>
            </a:r>
            <a:r>
              <a:rPr sz="1700" b="1">
                <a:solidFill>
                  <a:srgbClr val="FFFFFF"/>
                </a:solidFill>
                <a:latin typeface="Calibri"/>
              </a:rPr>
              <a:t>Real telemetry ingestion</a:t>
            </a:r>
            <a:r>
              <a:rPr sz="1600" b="0">
                <a:solidFill>
                  <a:srgbClr val="C7D2E0"/>
                </a:solidFill>
                <a:latin typeface="Calibri"/>
              </a:rPr>
              <a:t>  Swap the mock generator for real OBD-II / CAN bus feeds or public datasets (NASA battery, UCI predictive maintenance).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2D3EE"/>
                </a:solidFill>
              </a:rPr>
              <a:t>›  </a:t>
            </a:r>
            <a:r>
              <a:rPr sz="1700" b="1">
                <a:solidFill>
                  <a:srgbClr val="FFFFFF"/>
                </a:solidFill>
                <a:latin typeface="Calibri"/>
              </a:rPr>
              <a:t>ML-based degradation forecasting</a:t>
            </a:r>
            <a:r>
              <a:rPr sz="1600" b="0">
                <a:solidFill>
                  <a:srgbClr val="C7D2E0"/>
                </a:solidFill>
                <a:latin typeface="Calibri"/>
              </a:rPr>
              <a:t>  Layer a learned model on top of the deterministic engine for longer-horizon predictions, while keeping current scores 100% auditable.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2D3EE"/>
                </a:solidFill>
              </a:rPr>
              <a:t>›  </a:t>
            </a:r>
            <a:r>
              <a:rPr sz="1700" b="1">
                <a:solidFill>
                  <a:srgbClr val="FFFFFF"/>
                </a:solidFill>
                <a:latin typeface="Calibri"/>
              </a:rPr>
              <a:t>Fleet-level anomaly detection</a:t>
            </a:r>
            <a:r>
              <a:rPr sz="1600" b="0">
                <a:solidFill>
                  <a:srgbClr val="C7D2E0"/>
                </a:solidFill>
                <a:latin typeface="Calibri"/>
              </a:rPr>
              <a:t>  Flag vehicles that deviate from their fleet cohort, not just from their own history.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2D3EE"/>
                </a:solidFill>
              </a:rPr>
              <a:t>›  </a:t>
            </a:r>
            <a:r>
              <a:rPr sz="1700" b="1">
                <a:solidFill>
                  <a:srgbClr val="FFFFFF"/>
                </a:solidFill>
                <a:latin typeface="Calibri"/>
              </a:rPr>
              <a:t>Push notifications &amp; service-center integration</a:t>
            </a:r>
            <a:r>
              <a:rPr sz="1600" b="0">
                <a:solidFill>
                  <a:srgbClr val="C7D2E0"/>
                </a:solidFill>
                <a:latin typeface="Calibri"/>
              </a:rPr>
              <a:t>  Turn alerts into real dealer/service-center work orders automatically.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2D3EE"/>
                </a:solidFill>
              </a:rPr>
              <a:t>›  </a:t>
            </a:r>
            <a:r>
              <a:rPr sz="1700" b="1">
                <a:solidFill>
                  <a:srgbClr val="FFFFFF"/>
                </a:solidFill>
                <a:latin typeface="Calibri"/>
              </a:rPr>
              <a:t>Multi-tenant auth &amp; role scaling</a:t>
            </a:r>
            <a:r>
              <a:rPr sz="1600" b="0">
                <a:solidFill>
                  <a:srgbClr val="C7D2E0"/>
                </a:solidFill>
                <a:latin typeface="Calibri"/>
              </a:rPr>
              <a:t>  Move beyond demo users to real OEM/dealer/owner account tiers.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8C"/>
                </a:solidFill>
                <a:latin typeface="Calibri"/>
              </a:rPr>
              <a:t>Stellantis Hackathon · Cloud Vehicle Health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6B8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8016" cy="17373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29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7D2E0"/>
                </a:solidFill>
                <a:latin typeface="Calibri"/>
              </a:rPr>
              <a:t>Questions? Let's talk architecture, scoring math, or what's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72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E0"/>
                </a:solidFill>
                <a:latin typeface="Calibri"/>
              </a:rPr>
              <a:t>Team STACK · Cloud-Based Vehicle Health Dashboard · Stellantis Tech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